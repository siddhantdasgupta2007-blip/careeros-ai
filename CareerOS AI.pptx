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961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6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827810"/>
            <a:ext cx="6429375" cy="3487880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1142135"/>
            <a:ext cx="585787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CareerOS AI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714375" y="2030806"/>
            <a:ext cx="58578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Adaptive Career Intelligence Engine for the Skill Economy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714375" y="2730894"/>
            <a:ext cx="5000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 gap between student interests, skill levels, and real-world career opportunities through personalized pathways and actionable roadmaps.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14375" y="3513804"/>
            <a:ext cx="5857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TEAM: VISIONARY FLUX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14375" y="3706685"/>
            <a:ext cx="58578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Members: Siddhant, Simar, Pranay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14375" y="3879921"/>
            <a:ext cx="5857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7777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Devcation Hack 'N' Solve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DECISION CHALLENGES (AGES 15–24)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1323380"/>
            <a:ext cx="4000500" cy="29468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DECISION DRIVERS</a:t>
            </a:r>
            <a:endParaRPr lang="en-US" sz="119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789509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7231" y="1760934"/>
            <a:ext cx="308074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Trends: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AI, coding, and other hype-driven choices.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132409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0094" y="2103834"/>
            <a:ext cx="34254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Pressure: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influence and social media impact.</a:t>
            </a:r>
            <a:endParaRPr lang="en-US" sz="88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475309"/>
            <a:ext cx="214313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0094" y="2446734"/>
            <a:ext cx="291286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Awareness: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Lack of deep career insight.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4714875" y="1323380"/>
            <a:ext cx="4000500" cy="29468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RESULTING CONSEQUENCES</a:t>
            </a:r>
            <a:endParaRPr lang="en-US" sz="1193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789509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93481" y="1760934"/>
            <a:ext cx="349508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Mismatch: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Misalignment between interest and ability.</a:t>
            </a:r>
            <a:endParaRPr lang="en-US" sz="885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2132409"/>
            <a:ext cx="214313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36344" y="2103834"/>
            <a:ext cx="33218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Wasted Resources: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Significant loss of time and money.</a:t>
            </a:r>
            <a:endParaRPr lang="en-US" sz="885" dirty="0"/>
          </a:p>
        </p:txBody>
      </p:sp>
      <p:sp>
        <p:nvSpPr>
          <p:cNvPr id="18" name="Shape 10"/>
          <p:cNvSpPr/>
          <p:nvPr/>
        </p:nvSpPr>
        <p:spPr>
          <a:xfrm>
            <a:off x="4714875" y="2589609"/>
            <a:ext cx="4000500" cy="73937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9" name="Shape 11"/>
          <p:cNvSpPr/>
          <p:nvPr/>
        </p:nvSpPr>
        <p:spPr>
          <a:xfrm>
            <a:off x="4714875" y="2589609"/>
            <a:ext cx="57150" cy="73937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0" name="Text 12"/>
          <p:cNvSpPr/>
          <p:nvPr/>
        </p:nvSpPr>
        <p:spPr>
          <a:xfrm>
            <a:off x="4929188" y="2803922"/>
            <a:ext cx="35718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leads to poor employability and frequent career switching after years of investment."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GAP IN CURRENT CAREER GUIDANCE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1714500" y="1902916"/>
            <a:ext cx="5715000" cy="1743075"/>
          </a:xfrm>
          <a:prstGeom prst="rect">
            <a:avLst/>
          </a:prstGeom>
          <a:solidFill>
            <a:srgbClr val="FFFFFF"/>
          </a:solidFill>
          <a:ln w="27432">
            <a:solidFill>
              <a:srgbClr val="FF44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57375" y="1788616"/>
            <a:ext cx="784027" cy="121444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8" name="Text 5"/>
          <p:cNvSpPr/>
          <p:nvPr/>
        </p:nvSpPr>
        <p:spPr>
          <a:xfrm>
            <a:off x="1857375" y="1788616"/>
            <a:ext cx="784027" cy="121444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SYSTEMIC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1857375" y="1788616"/>
            <a:ext cx="784027" cy="121444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10" name="Text 7"/>
          <p:cNvSpPr/>
          <p:nvPr/>
        </p:nvSpPr>
        <p:spPr>
          <a:xfrm>
            <a:off x="1857375" y="1788616"/>
            <a:ext cx="784027" cy="121444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</a:t>
            </a:r>
            <a:endParaRPr lang="en-US" sz="683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221724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71725" y="2227064"/>
            <a:ext cx="276105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Structured Input Evaluation</a:t>
            </a:r>
            <a:endParaRPr lang="en-US" sz="1193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0" y="2660154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71725" y="2669977"/>
            <a:ext cx="331291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Inconsistent Career Domain Mapping</a:t>
            </a:r>
            <a:endParaRPr lang="en-US" sz="1193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0" y="3103066"/>
            <a:ext cx="257175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00300" y="3112889"/>
            <a:ext cx="297358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Absence of Clear Execution Paths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2071688" y="3903166"/>
            <a:ext cx="50006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tools fail to transform raw interests into structured, actionable career progression plans.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DECISION-SUPPORT SYSTEM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466255"/>
            <a:ext cx="2666991" cy="183415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1359098"/>
            <a:ext cx="707231" cy="19288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359098"/>
            <a:ext cx="707231" cy="19288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 INPUT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42938" y="1680567"/>
            <a:ext cx="2219334" cy="262533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PROFILE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642938" y="2085975"/>
            <a:ext cx="22193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core data points:</a:t>
            </a:r>
            <a:endParaRPr lang="en-US" sz="834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364581"/>
            <a:ext cx="100013" cy="1000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4388" y="2328863"/>
            <a:ext cx="9161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Interests</a:t>
            </a:r>
            <a:endParaRPr lang="en-US" sz="834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607469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4388" y="2571750"/>
            <a:ext cx="10412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Skill Levels</a:t>
            </a:r>
            <a:endParaRPr lang="en-US" sz="834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850356"/>
            <a:ext cx="100013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4388" y="2814638"/>
            <a:ext cx="10036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Aspirations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3219459" y="1466255"/>
            <a:ext cx="2676534" cy="183415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371850" y="1359098"/>
            <a:ext cx="900113" cy="19288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9" name="Text 13"/>
          <p:cNvSpPr/>
          <p:nvPr/>
        </p:nvSpPr>
        <p:spPr>
          <a:xfrm>
            <a:off x="3371850" y="1359098"/>
            <a:ext cx="900113" cy="19288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02. PROCESS</a:t>
            </a:r>
            <a:endParaRPr lang="en-US" sz="683" dirty="0"/>
          </a:p>
        </p:txBody>
      </p:sp>
      <p:sp>
        <p:nvSpPr>
          <p:cNvPr id="20" name="Text 14"/>
          <p:cNvSpPr/>
          <p:nvPr/>
        </p:nvSpPr>
        <p:spPr>
          <a:xfrm>
            <a:off x="3443288" y="1680567"/>
            <a:ext cx="2228850" cy="262533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ENGINE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3443288" y="2085975"/>
            <a:ext cx="2228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mapping logic:</a:t>
            </a:r>
            <a:endParaRPr lang="en-US" sz="834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288" y="2364581"/>
            <a:ext cx="100013" cy="1000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14738" y="2328863"/>
            <a:ext cx="12876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Cluster Mapping</a:t>
            </a:r>
            <a:endParaRPr lang="en-US" sz="834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288" y="2607469"/>
            <a:ext cx="100013" cy="10001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14738" y="2571750"/>
            <a:ext cx="9590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Gap Analysis</a:t>
            </a:r>
            <a:endParaRPr lang="en-US" sz="834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288" y="2850356"/>
            <a:ext cx="100013" cy="10001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14738" y="2814638"/>
            <a:ext cx="1175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Pathway Optimization</a:t>
            </a:r>
            <a:endParaRPr lang="en-US" sz="834" dirty="0"/>
          </a:p>
        </p:txBody>
      </p:sp>
      <p:sp>
        <p:nvSpPr>
          <p:cNvPr id="28" name="Shape 19"/>
          <p:cNvSpPr/>
          <p:nvPr/>
        </p:nvSpPr>
        <p:spPr>
          <a:xfrm>
            <a:off x="6029325" y="1466255"/>
            <a:ext cx="2686050" cy="183415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191231" y="1359098"/>
            <a:ext cx="835819" cy="19288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0" name="Text 21"/>
          <p:cNvSpPr/>
          <p:nvPr/>
        </p:nvSpPr>
        <p:spPr>
          <a:xfrm>
            <a:off x="6191231" y="1359098"/>
            <a:ext cx="835819" cy="19288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03. OUTPUT</a:t>
            </a:r>
            <a:endParaRPr lang="en-US" sz="683" dirty="0"/>
          </a:p>
        </p:txBody>
      </p:sp>
      <p:sp>
        <p:nvSpPr>
          <p:cNvPr id="31" name="Text 22"/>
          <p:cNvSpPr/>
          <p:nvPr/>
        </p:nvSpPr>
        <p:spPr>
          <a:xfrm>
            <a:off x="6262669" y="1680567"/>
            <a:ext cx="2238366" cy="262533"/>
          </a:xfrm>
          <a:prstGeom prst="rect">
            <a:avLst/>
          </a:prstGeom>
          <a:noFill/>
          <a:ln/>
        </p:spPr>
        <p:txBody>
          <a:bodyPr wrap="none" lIns="0" tIns="8509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DELIVERABLES</a:t>
            </a:r>
            <a:endParaRPr lang="en-US" sz="1090" dirty="0"/>
          </a:p>
        </p:txBody>
      </p:sp>
      <p:sp>
        <p:nvSpPr>
          <p:cNvPr id="32" name="Text 23"/>
          <p:cNvSpPr/>
          <p:nvPr/>
        </p:nvSpPr>
        <p:spPr>
          <a:xfrm>
            <a:off x="6262669" y="2085975"/>
            <a:ext cx="22383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career assets:</a:t>
            </a:r>
            <a:endParaRPr lang="en-US" sz="834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2364581"/>
            <a:ext cx="100013" cy="10001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434119" y="2328863"/>
            <a:ext cx="13394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 Recommendations</a:t>
            </a:r>
            <a:endParaRPr lang="en-US" sz="834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2607469"/>
            <a:ext cx="100013" cy="100013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434119" y="2571750"/>
            <a:ext cx="12537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Time-based Roadmaps</a:t>
            </a:r>
            <a:endParaRPr lang="en-US" sz="834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2850356"/>
            <a:ext cx="100013" cy="10001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434119" y="2814638"/>
            <a:ext cx="10447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Pathways</a:t>
            </a:r>
            <a:endParaRPr lang="en-US" sz="834" dirty="0"/>
          </a:p>
        </p:txBody>
      </p:sp>
      <p:sp>
        <p:nvSpPr>
          <p:cNvPr id="39" name="Shape 27"/>
          <p:cNvSpPr/>
          <p:nvPr/>
        </p:nvSpPr>
        <p:spPr>
          <a:xfrm>
            <a:off x="428625" y="4184452"/>
            <a:ext cx="8286750" cy="530423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0" name="Text 28"/>
          <p:cNvSpPr/>
          <p:nvPr/>
        </p:nvSpPr>
        <p:spPr>
          <a:xfrm>
            <a:off x="428625" y="4184452"/>
            <a:ext cx="8286750" cy="53042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RAW STUDENT INPUT INTO ACTIONABLE CAREER INTELLIGENCE</a:t>
            </a:r>
            <a:endParaRPr lang="en-US" sz="98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CAREER RECOMMENDATION ENGINE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0" y="1037630"/>
            <a:ext cx="3047981" cy="4105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033694" y="1037630"/>
            <a:ext cx="14288" cy="410587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8" name="Shape 5"/>
          <p:cNvSpPr/>
          <p:nvPr/>
        </p:nvSpPr>
        <p:spPr>
          <a:xfrm>
            <a:off x="1238241" y="1466255"/>
            <a:ext cx="571500" cy="571500"/>
          </a:xfrm>
          <a:prstGeom prst="rect">
            <a:avLst/>
          </a:prstGeom>
          <a:solidFill>
            <a:srgbClr val="1A1A2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116" y="1637705"/>
            <a:ext cx="2857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5750" y="2252067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SUGGESTIONS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285750" y="2823567"/>
            <a:ext cx="24764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specifically to the user's expressed interests and current skill levels for maximum relevance.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1106974" y="4414838"/>
            <a:ext cx="834033" cy="300038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13" name="Text 9"/>
          <p:cNvSpPr/>
          <p:nvPr/>
        </p:nvSpPr>
        <p:spPr>
          <a:xfrm>
            <a:off x="1106974" y="4414838"/>
            <a:ext cx="834033" cy="30003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 01</a:t>
            </a:r>
            <a:endParaRPr lang="en-US" sz="885" dirty="0"/>
          </a:p>
        </p:txBody>
      </p:sp>
      <p:sp>
        <p:nvSpPr>
          <p:cNvPr id="14" name="Shape 10"/>
          <p:cNvSpPr/>
          <p:nvPr/>
        </p:nvSpPr>
        <p:spPr>
          <a:xfrm>
            <a:off x="3047981" y="1037630"/>
            <a:ext cx="3048009" cy="4105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081703" y="1037630"/>
            <a:ext cx="14288" cy="410587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6" name="Shape 12"/>
          <p:cNvSpPr/>
          <p:nvPr/>
        </p:nvSpPr>
        <p:spPr>
          <a:xfrm>
            <a:off x="4286222" y="1466255"/>
            <a:ext cx="571500" cy="571500"/>
          </a:xfrm>
          <a:prstGeom prst="rect">
            <a:avLst/>
          </a:prstGeom>
          <a:solidFill>
            <a:srgbClr val="1A1A2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72" y="1637705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92373" y="2252067"/>
            <a:ext cx="215919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ALIGNMENT</a:t>
            </a:r>
            <a:endParaRPr lang="en-US" sz="1193" dirty="0"/>
          </a:p>
        </p:txBody>
      </p:sp>
      <p:sp>
        <p:nvSpPr>
          <p:cNvPr id="19" name="Text 14"/>
          <p:cNvSpPr/>
          <p:nvPr/>
        </p:nvSpPr>
        <p:spPr>
          <a:xfrm>
            <a:off x="3333731" y="2823567"/>
            <a:ext cx="247650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the most viable and high-growth paths within the modern skill economy.</a:t>
            </a:r>
            <a:endParaRPr lang="en-US" sz="942" dirty="0"/>
          </a:p>
        </p:txBody>
      </p:sp>
      <p:sp>
        <p:nvSpPr>
          <p:cNvPr id="20" name="Shape 15"/>
          <p:cNvSpPr/>
          <p:nvPr/>
        </p:nvSpPr>
        <p:spPr>
          <a:xfrm>
            <a:off x="4142454" y="4414838"/>
            <a:ext cx="859036" cy="300038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21" name="Text 16"/>
          <p:cNvSpPr/>
          <p:nvPr/>
        </p:nvSpPr>
        <p:spPr>
          <a:xfrm>
            <a:off x="4142454" y="4414838"/>
            <a:ext cx="859036" cy="30003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 02</a:t>
            </a:r>
            <a:endParaRPr lang="en-US" sz="885" dirty="0"/>
          </a:p>
        </p:txBody>
      </p:sp>
      <p:sp>
        <p:nvSpPr>
          <p:cNvPr id="22" name="Shape 17"/>
          <p:cNvSpPr/>
          <p:nvPr/>
        </p:nvSpPr>
        <p:spPr>
          <a:xfrm>
            <a:off x="7334231" y="1466255"/>
            <a:ext cx="571500" cy="571500"/>
          </a:xfrm>
          <a:prstGeom prst="rect">
            <a:avLst/>
          </a:prstGeom>
          <a:solidFill>
            <a:srgbClr val="1A1A2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256" y="1637705"/>
            <a:ext cx="17145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10034" y="2252067"/>
            <a:ext cx="20198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ACTIONABLE CLARITY</a:t>
            </a:r>
            <a:endParaRPr lang="en-US" sz="1193" dirty="0"/>
          </a:p>
        </p:txBody>
      </p:sp>
      <p:sp>
        <p:nvSpPr>
          <p:cNvPr id="25" name="Text 19"/>
          <p:cNvSpPr/>
          <p:nvPr/>
        </p:nvSpPr>
        <p:spPr>
          <a:xfrm>
            <a:off x="6381741" y="2823567"/>
            <a:ext cx="24764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clear starting point for students to explore and commit to their professional future.</a:t>
            </a:r>
            <a:endParaRPr lang="en-US" sz="942" dirty="0"/>
          </a:p>
        </p:txBody>
      </p:sp>
      <p:sp>
        <p:nvSpPr>
          <p:cNvPr id="26" name="Shape 20"/>
          <p:cNvSpPr/>
          <p:nvPr/>
        </p:nvSpPr>
        <p:spPr>
          <a:xfrm>
            <a:off x="7191356" y="4414838"/>
            <a:ext cx="857250" cy="300038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27" name="Text 21"/>
          <p:cNvSpPr/>
          <p:nvPr/>
        </p:nvSpPr>
        <p:spPr>
          <a:xfrm>
            <a:off x="7191356" y="4414838"/>
            <a:ext cx="857250" cy="30003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 03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MULTI-LEVEL ACTIONABLE ROADMAPS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1323380"/>
            <a:ext cx="246219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MONTHS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85750" y="1603772"/>
            <a:ext cx="2462194" cy="2589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Foundational Phase</a:t>
            </a:r>
            <a:endParaRPr lang="en-US" sz="98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098477"/>
            <a:ext cx="142875" cy="3214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5781" y="2077045"/>
            <a:ext cx="2212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skill acquisition and fundamental learning paths.</a:t>
            </a:r>
            <a:endParaRPr lang="en-US" sz="83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619970"/>
            <a:ext cx="142875" cy="3214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5781" y="2598539"/>
            <a:ext cx="2212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actionable steps to bridge initial gaps.</a:t>
            </a:r>
            <a:endParaRPr lang="en-US" sz="83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9319" y="4220170"/>
            <a:ext cx="428625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33731" y="1323380"/>
            <a:ext cx="246222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YEAR</a:t>
            </a:r>
            <a:endParaRPr lang="en-US" sz="1193" dirty="0"/>
          </a:p>
        </p:txBody>
      </p:sp>
      <p:sp>
        <p:nvSpPr>
          <p:cNvPr id="14" name="Text 8"/>
          <p:cNvSpPr/>
          <p:nvPr/>
        </p:nvSpPr>
        <p:spPr>
          <a:xfrm>
            <a:off x="3333731" y="1603772"/>
            <a:ext cx="2462222" cy="2589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Phase</a:t>
            </a:r>
            <a:endParaRPr lang="en-US" sz="987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2098477"/>
            <a:ext cx="160734" cy="32146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01622" y="2077045"/>
            <a:ext cx="2194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Intermediate goals and professional development milestones.</a:t>
            </a:r>
            <a:endParaRPr lang="en-US" sz="834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31" y="2619970"/>
            <a:ext cx="142875" cy="32146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583763" y="2598539"/>
            <a:ext cx="22121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 and practical project implementation.</a:t>
            </a:r>
            <a:endParaRPr lang="en-US" sz="834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7328" y="4220170"/>
            <a:ext cx="428625" cy="5715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381741" y="1323380"/>
            <a:ext cx="24764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YEARS</a:t>
            </a:r>
            <a:endParaRPr lang="en-US" sz="1193" dirty="0"/>
          </a:p>
        </p:txBody>
      </p:sp>
      <p:sp>
        <p:nvSpPr>
          <p:cNvPr id="21" name="Text 12"/>
          <p:cNvSpPr/>
          <p:nvPr/>
        </p:nvSpPr>
        <p:spPr>
          <a:xfrm>
            <a:off x="6381741" y="1603772"/>
            <a:ext cx="2476481" cy="25896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Specialization Phase</a:t>
            </a:r>
            <a:endParaRPr lang="en-US" sz="987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41" y="2098477"/>
            <a:ext cx="142875" cy="321469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631772" y="2077045"/>
            <a:ext cx="222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career vision and advanced specialization targets.</a:t>
            </a:r>
            <a:endParaRPr lang="en-US" sz="834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41" y="2619970"/>
            <a:ext cx="160734" cy="321469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649631" y="2598539"/>
            <a:ext cx="22085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Market-aligned leadership and expert-level positioning.</a:t>
            </a:r>
            <a:endParaRPr lang="en-US" sz="834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9597" y="4220170"/>
            <a:ext cx="42862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GUIDANCE &amp; CAREER FLEXIBILITY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1323380"/>
            <a:ext cx="4000500" cy="29468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FOCUS AREAS</a:t>
            </a:r>
            <a:endParaRPr lang="en-US" sz="119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789509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7231" y="1760934"/>
            <a:ext cx="37218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Skills: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Highlights essential technical and soft skills required for success in the chosen path.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292418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7231" y="2263843"/>
            <a:ext cx="37218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Learning: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Focuses on high-impact skills that improve employability.</a:t>
            </a:r>
            <a:endParaRPr lang="en-US" sz="88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795327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7231" y="2766752"/>
            <a:ext cx="37218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Updates: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Skill recommendations adapt based on user interest and level.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4714875" y="1323380"/>
            <a:ext cx="4000500" cy="29468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ALTERNATE PATHWAYS</a:t>
            </a:r>
            <a:endParaRPr lang="en-US" sz="1193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789509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93481" y="1760934"/>
            <a:ext cx="37218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Options: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Suggests secondary career paths to ensure long-term resilience.</a:t>
            </a:r>
            <a:endParaRPr lang="en-US" sz="885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2292418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993481" y="2263843"/>
            <a:ext cx="37218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Resilience:</a:t>
            </a: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Provides flexibility to pivot as market conditions or interests change.</a:t>
            </a:r>
            <a:endParaRPr lang="en-US" sz="885" dirty="0"/>
          </a:p>
        </p:txBody>
      </p:sp>
      <p:sp>
        <p:nvSpPr>
          <p:cNvPr id="18" name="Shape 10"/>
          <p:cNvSpPr/>
          <p:nvPr/>
        </p:nvSpPr>
        <p:spPr>
          <a:xfrm>
            <a:off x="4714875" y="2909627"/>
            <a:ext cx="4000500" cy="73937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9" name="Shape 11"/>
          <p:cNvSpPr/>
          <p:nvPr/>
        </p:nvSpPr>
        <p:spPr>
          <a:xfrm>
            <a:off x="4714875" y="2909627"/>
            <a:ext cx="57150" cy="739378"/>
          </a:xfrm>
          <a:prstGeom prst="rect">
            <a:avLst/>
          </a:prstGeom>
          <a:solidFill>
            <a:srgbClr val="FF4400"/>
          </a:solidFill>
          <a:ln/>
        </p:spPr>
      </p:sp>
      <p:sp>
        <p:nvSpPr>
          <p:cNvPr id="20" name="Text 12"/>
          <p:cNvSpPr/>
          <p:nvPr/>
        </p:nvSpPr>
        <p:spPr>
          <a:xfrm>
            <a:off x="4929188" y="3123940"/>
            <a:ext cx="35718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CAREER INTELLIGENCE: OUTPUT EVOLVES WITH YOUR PROFESSIONAL JOURNEY.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ARCHITECTURE &amp; TECH STACK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323380"/>
            <a:ext cx="3143250" cy="51970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83221"/>
            <a:ext cx="76616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687836" y="1466255"/>
            <a:ext cx="74116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428625" y="1871663"/>
            <a:ext cx="3143250" cy="51970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2031504"/>
            <a:ext cx="57328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STYLING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475309" y="2014538"/>
            <a:ext cx="95369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 + CSS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428625" y="2419945"/>
            <a:ext cx="3143250" cy="519708"/>
          </a:xfrm>
          <a:prstGeom prst="rect">
            <a:avLst/>
          </a:prstGeom>
          <a:solidFill>
            <a:srgbClr val="0055FF"/>
          </a:solidFill>
          <a:ln w="18288">
            <a:solidFill>
              <a:srgbClr val="005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2579787"/>
            <a:ext cx="68401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2841427" y="2562820"/>
            <a:ext cx="58757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428625" y="2968228"/>
            <a:ext cx="3143250" cy="51970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" y="3128070"/>
            <a:ext cx="4214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887736" y="3111103"/>
            <a:ext cx="154126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Rule-Based Engine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4000500" y="1444823"/>
            <a:ext cx="2250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LOGIC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000500" y="1655564"/>
            <a:ext cx="22502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provides a rapid, interactive interface for user data entry and dynamic result visualization.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6465094" y="1444823"/>
            <a:ext cx="2250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CORE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465094" y="1655564"/>
            <a:ext cx="22502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handles the data processing, mapping algorithms, and structured output generation.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000500" y="2505670"/>
            <a:ext cx="2250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 CUSTOMIZATION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000500" y="2716411"/>
            <a:ext cx="22502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HTML and CSS are injected into Streamlit to ensure a professional and branded user experience.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465094" y="2505670"/>
            <a:ext cx="22502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ENGINE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465094" y="2716411"/>
            <a:ext cx="22502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rule-based system ensures consistent career mapping and roadmap accuracy.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USER JOURNEY: FROM INPUT TO OUTPUT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466255"/>
            <a:ext cx="1964531" cy="324862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680567"/>
            <a:ext cx="1535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55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642938" y="2166342"/>
            <a:ext cx="15359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SELECTION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42938" y="2666405"/>
            <a:ext cx="15359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selects their core interest, current skill level, and optional career goals.</a:t>
            </a:r>
            <a:endParaRPr lang="en-US" sz="834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4245173"/>
            <a:ext cx="28575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36031" y="1466255"/>
            <a:ext cx="1964531" cy="324862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50344" y="1680567"/>
            <a:ext cx="1535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55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36" dirty="0"/>
          </a:p>
        </p:txBody>
      </p:sp>
      <p:sp>
        <p:nvSpPr>
          <p:cNvPr id="13" name="Text 9"/>
          <p:cNvSpPr/>
          <p:nvPr/>
        </p:nvSpPr>
        <p:spPr>
          <a:xfrm>
            <a:off x="2750344" y="2166342"/>
            <a:ext cx="15359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PROCESSING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2750344" y="2666405"/>
            <a:ext cx="15359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engine matches input with career categories and specialized skill paths.</a:t>
            </a:r>
            <a:endParaRPr lang="en-US" sz="834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0344" y="4245173"/>
            <a:ext cx="285750" cy="228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43438" y="1466255"/>
            <a:ext cx="1964531" cy="324862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57750" y="1680567"/>
            <a:ext cx="1535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55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36" dirty="0"/>
          </a:p>
        </p:txBody>
      </p:sp>
      <p:sp>
        <p:nvSpPr>
          <p:cNvPr id="18" name="Text 13"/>
          <p:cNvSpPr/>
          <p:nvPr/>
        </p:nvSpPr>
        <p:spPr>
          <a:xfrm>
            <a:off x="4857750" y="2166342"/>
            <a:ext cx="15359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GENERATION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4857750" y="2666405"/>
            <a:ext cx="15359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generates career suggestions, roadmaps, and required skill focus areas.</a:t>
            </a:r>
            <a:endParaRPr lang="en-US" sz="834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4245173"/>
            <a:ext cx="228600" cy="228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50844" y="1466255"/>
            <a:ext cx="1964531" cy="324862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965156" y="1680567"/>
            <a:ext cx="1535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55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36" dirty="0"/>
          </a:p>
        </p:txBody>
      </p:sp>
      <p:sp>
        <p:nvSpPr>
          <p:cNvPr id="23" name="Text 17"/>
          <p:cNvSpPr/>
          <p:nvPr/>
        </p:nvSpPr>
        <p:spPr>
          <a:xfrm>
            <a:off x="6965156" y="2166342"/>
            <a:ext cx="15359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DISPLAY</a:t>
            </a:r>
            <a:endParaRPr lang="en-US" sz="987" dirty="0"/>
          </a:p>
        </p:txBody>
      </p:sp>
      <p:sp>
        <p:nvSpPr>
          <p:cNvPr id="24" name="Text 18"/>
          <p:cNvSpPr/>
          <p:nvPr/>
        </p:nvSpPr>
        <p:spPr>
          <a:xfrm>
            <a:off x="6965156" y="2666405"/>
            <a:ext cx="15359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output is displayed in a structured, actionable format for the user.</a:t>
            </a:r>
            <a:endParaRPr lang="en-US" sz="834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5156" y="4245173"/>
            <a:ext cx="2571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BEYOND GENERIC CHATBOTS: OUR INNOVATION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483221"/>
            <a:ext cx="4000500" cy="3214688"/>
          </a:xfrm>
          <a:prstGeom prst="rect">
            <a:avLst/>
          </a:prstGeom>
          <a:solidFill>
            <a:srgbClr val="FFFFFF"/>
          </a:solidFill>
          <a:ln w="27432">
            <a:solidFill>
              <a:srgbClr val="1A1A2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4375" y="1768971"/>
            <a:ext cx="984052" cy="192881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768971"/>
            <a:ext cx="984052" cy="19288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714375" y="2104727"/>
            <a:ext cx="340042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AI CHATBOTS</a:t>
            </a:r>
            <a:endParaRPr lang="en-US" sz="1397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580484"/>
            <a:ext cx="98227" cy="1571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9758" y="2559053"/>
            <a:ext cx="24288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Unstructured conversational responses.</a:t>
            </a:r>
            <a:endParaRPr lang="en-US" sz="942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903376"/>
            <a:ext cx="98227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9758" y="2881945"/>
            <a:ext cx="241637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actionable execution roadmaps.</a:t>
            </a:r>
            <a:endParaRPr lang="en-US" sz="942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226268"/>
            <a:ext cx="98227" cy="1571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9758" y="3204837"/>
            <a:ext cx="25788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output without skill-level adaptation.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686300" y="1483221"/>
            <a:ext cx="4029075" cy="3214688"/>
          </a:xfrm>
          <a:prstGeom prst="rect">
            <a:avLst/>
          </a:prstGeom>
          <a:solidFill>
            <a:srgbClr val="FFFFFF"/>
          </a:solidFill>
          <a:ln w="27432">
            <a:solidFill>
              <a:srgbClr val="0055F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000625" y="1768971"/>
            <a:ext cx="1003697" cy="192881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8" name="Text 12"/>
          <p:cNvSpPr/>
          <p:nvPr/>
        </p:nvSpPr>
        <p:spPr>
          <a:xfrm>
            <a:off x="5000625" y="1768971"/>
            <a:ext cx="1003697" cy="19288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683" dirty="0"/>
          </a:p>
        </p:txBody>
      </p:sp>
      <p:sp>
        <p:nvSpPr>
          <p:cNvPr id="19" name="Text 13"/>
          <p:cNvSpPr/>
          <p:nvPr/>
        </p:nvSpPr>
        <p:spPr>
          <a:xfrm>
            <a:off x="5000625" y="2104727"/>
            <a:ext cx="342900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CAREEROS AI ENGINE</a:t>
            </a:r>
            <a:endParaRPr lang="en-US" sz="139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580484"/>
            <a:ext cx="157163" cy="1571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64944" y="2559053"/>
            <a:ext cx="232350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structured career mapping logic.</a:t>
            </a:r>
            <a:endParaRPr lang="en-US" sz="942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903376"/>
            <a:ext cx="157163" cy="15716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64944" y="2881945"/>
            <a:ext cx="269676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time-based actionable roadmaps.</a:t>
            </a:r>
            <a:endParaRPr lang="en-US" sz="942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226268"/>
            <a:ext cx="157163" cy="15716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64944" y="3204837"/>
            <a:ext cx="244852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Adapts output dynamically to user input.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IMPACT &amp; TARGET SECTORS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0" y="1037630"/>
            <a:ext cx="4572000" cy="41058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557713" y="1037630"/>
            <a:ext cx="14288" cy="410587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8" name="Text 5"/>
          <p:cNvSpPr/>
          <p:nvPr/>
        </p:nvSpPr>
        <p:spPr>
          <a:xfrm>
            <a:off x="342900" y="1380530"/>
            <a:ext cx="388620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USERS</a:t>
            </a:r>
            <a:endParaRPr lang="en-US" sz="119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760934"/>
            <a:ext cx="357188" cy="357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2963" y="1852910"/>
            <a:ext cx="15591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Institutions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842963" y="2139553"/>
            <a:ext cx="33861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Schools and colleges for structured career counseling and guidance systems.</a:t>
            </a:r>
            <a:endParaRPr lang="en-US" sz="942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2668191"/>
            <a:ext cx="357188" cy="357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2963" y="2760166"/>
            <a:ext cx="11858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EdTech Platforms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842963" y="3046809"/>
            <a:ext cx="33861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into learning management systems to provide career context to courses.</a:t>
            </a:r>
            <a:endParaRPr lang="en-US" sz="942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575447"/>
            <a:ext cx="357188" cy="3571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2963" y="3667423"/>
            <a:ext cx="96262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Programs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842963" y="3954066"/>
            <a:ext cx="33861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and private skill development initiatives for workforce readiness.</a:t>
            </a:r>
            <a:endParaRPr lang="en-US" sz="942" dirty="0"/>
          </a:p>
        </p:txBody>
      </p:sp>
      <p:sp>
        <p:nvSpPr>
          <p:cNvPr id="18" name="Text 12"/>
          <p:cNvSpPr/>
          <p:nvPr/>
        </p:nvSpPr>
        <p:spPr>
          <a:xfrm>
            <a:off x="4914900" y="1380530"/>
            <a:ext cx="388620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IMPACT</a:t>
            </a:r>
            <a:endParaRPr lang="en-US" sz="1193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1760934"/>
            <a:ext cx="357188" cy="3571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14963" y="1852910"/>
            <a:ext cx="12930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Mismatch</a:t>
            </a:r>
            <a:endParaRPr lang="en-US" sz="987" dirty="0"/>
          </a:p>
        </p:txBody>
      </p:sp>
      <p:sp>
        <p:nvSpPr>
          <p:cNvPr id="21" name="Text 14"/>
          <p:cNvSpPr/>
          <p:nvPr/>
        </p:nvSpPr>
        <p:spPr>
          <a:xfrm>
            <a:off x="5414963" y="2139553"/>
            <a:ext cx="33861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lowers the rate of wrong career decisions among students aged 15-24.</a:t>
            </a:r>
            <a:endParaRPr lang="en-US" sz="942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2668191"/>
            <a:ext cx="357188" cy="3571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14963" y="2760166"/>
            <a:ext cx="15680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Employability</a:t>
            </a:r>
            <a:endParaRPr lang="en-US" sz="987" dirty="0"/>
          </a:p>
        </p:txBody>
      </p:sp>
      <p:sp>
        <p:nvSpPr>
          <p:cNvPr id="24" name="Text 16"/>
          <p:cNvSpPr/>
          <p:nvPr/>
        </p:nvSpPr>
        <p:spPr>
          <a:xfrm>
            <a:off x="5414963" y="3046809"/>
            <a:ext cx="33861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student skills with market demand, ensuring better job placement outcomes.</a:t>
            </a:r>
            <a:endParaRPr lang="en-US" sz="942" dirty="0"/>
          </a:p>
        </p:txBody>
      </p:sp>
      <p:sp>
        <p:nvSpPr>
          <p:cNvPr id="25" name="Shape 17"/>
          <p:cNvSpPr/>
          <p:nvPr/>
        </p:nvSpPr>
        <p:spPr>
          <a:xfrm>
            <a:off x="4914900" y="4207669"/>
            <a:ext cx="3886200" cy="592931"/>
          </a:xfrm>
          <a:prstGeom prst="rect">
            <a:avLst/>
          </a:prstGeom>
          <a:solidFill>
            <a:srgbClr val="F4F4F9"/>
          </a:solidFill>
          <a:ln w="18288">
            <a:solidFill>
              <a:srgbClr val="1A1A24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057775" y="4379119"/>
            <a:ext cx="36004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4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MISSION: TRANSFORMING CAREER GUIDANCE FROM GUESS-BASED TO DATA-DRIVEN PLANNING.</a:t>
            </a:r>
            <a:endParaRPr lang="en-US" sz="7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66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37630"/>
            <a:ext cx="9144000" cy="28575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SCOPE &amp; CONCLUSION</a:t>
            </a:r>
            <a:endParaRPr lang="en-US" sz="212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16348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215455"/>
            <a:ext cx="21395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GENAI MODEL INTEGRATION</a:t>
            </a:r>
            <a:endParaRPr lang="en-US" sz="98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689622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5813" y="2688729"/>
            <a:ext cx="17877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JOB MARKET DATA</a:t>
            </a:r>
            <a:endParaRPr lang="en-US" sz="98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162895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5813" y="3162002"/>
            <a:ext cx="228778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DASHBOARDS</a:t>
            </a:r>
            <a:endParaRPr lang="en-US" sz="987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636169"/>
            <a:ext cx="214313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85813" y="3635276"/>
            <a:ext cx="32093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 &amp; LEARNING RECOMMENDATIONS</a:t>
            </a:r>
            <a:endParaRPr lang="en-US" sz="987" dirty="0"/>
          </a:p>
        </p:txBody>
      </p:sp>
      <p:sp>
        <p:nvSpPr>
          <p:cNvPr id="14" name="Shape 7"/>
          <p:cNvSpPr/>
          <p:nvPr/>
        </p:nvSpPr>
        <p:spPr>
          <a:xfrm>
            <a:off x="5486400" y="1037630"/>
            <a:ext cx="3657600" cy="410587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5" name="Text 8"/>
          <p:cNvSpPr/>
          <p:nvPr/>
        </p:nvSpPr>
        <p:spPr>
          <a:xfrm>
            <a:off x="6229350" y="2125461"/>
            <a:ext cx="21717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5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VISION</a:t>
            </a:r>
            <a:endParaRPr lang="en-US" sz="1602" dirty="0"/>
          </a:p>
        </p:txBody>
      </p:sp>
      <p:sp>
        <p:nvSpPr>
          <p:cNvPr id="16" name="Text 9"/>
          <p:cNvSpPr/>
          <p:nvPr/>
        </p:nvSpPr>
        <p:spPr>
          <a:xfrm>
            <a:off x="6229350" y="2546942"/>
            <a:ext cx="21717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CareerOS AI transforms career guidance from guess-based decision making to structured, data-driven career planning for the next generation.</a:t>
            </a:r>
            <a:endParaRPr lang="en-US" sz="115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774</Words>
  <Application>Microsoft Office PowerPoint</Application>
  <PresentationFormat>On-screen Show (16:9)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Siddhant Dasgupta</cp:lastModifiedBy>
  <cp:revision>1</cp:revision>
  <dcterms:created xsi:type="dcterms:W3CDTF">2026-04-03T17:08:30Z</dcterms:created>
  <dcterms:modified xsi:type="dcterms:W3CDTF">2026-04-03T17:11:41Z</dcterms:modified>
</cp:coreProperties>
</file>